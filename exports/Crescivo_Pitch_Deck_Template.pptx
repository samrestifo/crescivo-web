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mre\Downloads\crescivo-web\exports\_hero-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8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5760720" cy="5143500"/>
          </a:xfrm>
          <a:prstGeom prst="rect">
            <a:avLst/>
          </a:prstGeom>
          <a:solidFill>
            <a:srgbClr val="0A0F18">
              <a:alpha val="8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25400">
            <a:solidFill>
              <a:srgbClr val="C8A9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420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spc="200" kern="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CRESCIVO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66928" y="768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ARCHITECTURE™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66928" y="1993392"/>
            <a:ext cx="64008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2139696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0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Beyond
</a:t>
            </a:r>
            <a:pPr algn="l" indent="0" marL="0">
              <a:lnSpc>
                <a:spcPct val="98000"/>
              </a:lnSpc>
              <a:buNone/>
            </a:pPr>
            <a:r>
              <a:rPr lang="en-US" sz="5000" i="1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Founder.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566928" y="363931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Architecture™ for B2B scale-ups with proven product-market fit.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4572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[CLIENT]  ·  [DATE]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Restifo  ·  Guy Pozniak  ·  Jason Serda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mre\Downloads\crescivo-web\exports\_hero-vstri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0"/>
            <a:ext cx="35204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23560" y="0"/>
            <a:ext cx="3520440" cy="5143500"/>
          </a:xfrm>
          <a:prstGeom prst="rect">
            <a:avLst/>
          </a:prstGeom>
          <a:solidFill>
            <a:srgbClr val="0A0F18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23560" y="0"/>
            <a:ext cx="914400" cy="5143500"/>
          </a:xfrm>
          <a:prstGeom prst="rect">
            <a:avLst/>
          </a:prstGeom>
          <a:solidFill>
            <a:srgbClr val="0A0F18">
              <a:alpha val="9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537960" y="0"/>
            <a:ext cx="640080" cy="5143500"/>
          </a:xfrm>
          <a:prstGeom prst="rect">
            <a:avLst/>
          </a:prstGeom>
          <a:solidFill>
            <a:srgbClr val="0A0F18">
              <a:alpha val="5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CEILING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66928" y="786384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 growth is
the advantage —
</a:t>
            </a:r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until it becomes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i="1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constraint.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66928" y="3611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knows the customer, opens the doors and closes the deals — then the business starts depending on the founder for every major deal, decision and relationship.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GROWTH STALLS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lead problem.  </a:t>
            </a:r>
            <a:pPr algn="l" indent="0" marL="0">
              <a:lnSpc>
                <a:spcPct val="102000"/>
              </a:lnSpc>
              <a:buNone/>
            </a:pPr>
            <a:r>
              <a:rPr lang="en-US" sz="2400" i="1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founder-dependency problem.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2103120"/>
            <a:ext cx="91440" cy="91440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48840"/>
            <a:ext cx="1399032" cy="96012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560320"/>
            <a:ext cx="91440" cy="91440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606040"/>
            <a:ext cx="1399032" cy="50292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017520"/>
            <a:ext cx="91440" cy="91440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3063240"/>
            <a:ext cx="1399032" cy="4572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474720"/>
            <a:ext cx="91440" cy="91440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1097280" y="3108960"/>
            <a:ext cx="1399032" cy="41148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931920"/>
            <a:ext cx="91440" cy="91440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14" name="Shape 12"/>
          <p:cNvSpPr/>
          <p:nvPr/>
        </p:nvSpPr>
        <p:spPr>
          <a:xfrm flipV="1">
            <a:off x="1097280" y="3108960"/>
            <a:ext cx="1399032" cy="86868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78024" y="2798064"/>
            <a:ext cx="621792" cy="621792"/>
          </a:xfrm>
          <a:prstGeom prst="ellipse">
            <a:avLst/>
          </a:prstGeom>
          <a:solidFill>
            <a:srgbClr val="0A0F18"/>
          </a:solidFill>
          <a:ln w="19050">
            <a:solidFill>
              <a:srgbClr val="C8A9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9816" y="3108960"/>
            <a:ext cx="1060704" cy="0"/>
          </a:xfrm>
          <a:prstGeom prst="line">
            <a:avLst/>
          </a:prstGeom>
          <a:noFill/>
          <a:ln w="15875">
            <a:solidFill>
              <a:srgbClr val="C8A9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3063240"/>
            <a:ext cx="91440" cy="914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2057400" y="35387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1664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33467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spc="15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spc="15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74920" y="1938528"/>
            <a:ext cx="155448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Can't be in every deal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58384" y="2103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capped by founder capacity, not demand.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2651760"/>
            <a:ext cx="155448" cy="0"/>
          </a:xfrm>
          <a:prstGeom prst="line">
            <a:avLst/>
          </a:prstGeom>
          <a:noFill/>
          <a:ln w="19050">
            <a:solidFill>
              <a:srgbClr val="3DB8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58384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without a system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58384" y="28163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adds motion without architecture.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74920" y="3364992"/>
            <a:ext cx="155448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8384" y="3255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ICP drift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58384" y="35295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too broadly dilutes where you win.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4078224"/>
            <a:ext cx="155448" cy="0"/>
          </a:xfrm>
          <a:prstGeom prst="line">
            <a:avLst/>
          </a:prstGeom>
          <a:noFill/>
          <a:ln w="19050">
            <a:solidFill>
              <a:srgbClr val="3DB8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58384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Untapped ecosystem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58384" y="42428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multiply reach — with the right motion.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00784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67712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01568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8496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0064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6992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1417320"/>
            <a:ext cx="0" cy="288036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417320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1984248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551176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118104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685032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251960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ARCHITECTURE™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78638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the output.  </a:t>
            </a:r>
            <a:pPr algn="l" indent="0" marL="0">
              <a:lnSpc>
                <a:spcPct val="102000"/>
              </a:lnSpc>
              <a:buNone/>
            </a:pPr>
            <a:r>
              <a:rPr lang="en-US" sz="2200" i="1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is the input.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331720" y="1965960"/>
            <a:ext cx="2240280" cy="91440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572000" y="1965960"/>
            <a:ext cx="2240280" cy="91440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331720" y="2880360"/>
            <a:ext cx="2240280" cy="91440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2880360"/>
            <a:ext cx="2240280" cy="91440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17320" y="1673352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141C26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3040" y="18470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897880" y="1673352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141C26"/>
          </a:solidFill>
          <a:ln w="12700">
            <a:solidFill>
              <a:srgbClr val="3DB8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18470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417320" y="3502152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141C26"/>
          </a:solidFill>
          <a:ln w="12700">
            <a:solidFill>
              <a:srgbClr val="3DB8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63040" y="3675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897880" y="3502152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141C26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675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520440" y="2496312"/>
            <a:ext cx="2103120" cy="768096"/>
          </a:xfrm>
          <a:prstGeom prst="roundRect">
            <a:avLst>
              <a:gd name="adj" fmla="val 7143"/>
            </a:avLst>
          </a:prstGeom>
          <a:solidFill>
            <a:srgbClr val="1C2A38"/>
          </a:solidFill>
          <a:ln w="19050">
            <a:solidFill>
              <a:srgbClr val="C8A9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Architecture™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spc="1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spc="1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818120" y="2770632"/>
            <a:ext cx="640080" cy="219456"/>
          </a:xfrm>
          <a:prstGeom prst="rightArrow">
            <a:avLst/>
          </a:prstGeom>
          <a:solidFill>
            <a:srgbClr val="C8A96E"/>
          </a:solidFill>
          <a:ln/>
        </p:spPr>
      </p:sp>
      <p:sp>
        <p:nvSpPr>
          <p:cNvPr id="42" name="Text 40"/>
          <p:cNvSpPr/>
          <p:nvPr/>
        </p:nvSpPr>
        <p:spPr>
          <a:xfrm>
            <a:off x="754380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00784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67712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01568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8496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02352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0064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6992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1371600"/>
            <a:ext cx="0" cy="324612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371600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1938528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505456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072384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639312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206240"/>
            <a:ext cx="8010144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43584" y="1517904"/>
            <a:ext cx="73152" cy="73152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4" name="Shape 22"/>
          <p:cNvSpPr/>
          <p:nvPr/>
        </p:nvSpPr>
        <p:spPr>
          <a:xfrm>
            <a:off x="7827264" y="1700784"/>
            <a:ext cx="73152" cy="73152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5" name="Shape 23"/>
          <p:cNvSpPr/>
          <p:nvPr/>
        </p:nvSpPr>
        <p:spPr>
          <a:xfrm>
            <a:off x="1792224" y="4261104"/>
            <a:ext cx="73152" cy="73152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6" name="Shape 24"/>
          <p:cNvSpPr/>
          <p:nvPr/>
        </p:nvSpPr>
        <p:spPr>
          <a:xfrm>
            <a:off x="8193024" y="3986784"/>
            <a:ext cx="73152" cy="73152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7" name="Shape 25"/>
          <p:cNvSpPr/>
          <p:nvPr/>
        </p:nvSpPr>
        <p:spPr>
          <a:xfrm>
            <a:off x="4535424" y="1243584"/>
            <a:ext cx="73152" cy="73152"/>
          </a:xfrm>
          <a:prstGeom prst="ellipse">
            <a:avLst/>
          </a:prstGeom>
          <a:solidFill>
            <a:srgbClr val="2A3A4C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OPERATING SYSTEM. FOUR GROWTH LEVERS.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" y="786384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growth levers.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566928" y="1481328"/>
            <a:ext cx="3867912" cy="1481328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1481328"/>
            <a:ext cx="3867912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" y="16824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6384" y="190195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ICP, Positioning &amp; Commercial Design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6384" y="234086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who you serve, why you win, how you position and where the next stage of growth should come from.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1481328"/>
            <a:ext cx="3867912" cy="1481328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1481328"/>
            <a:ext cx="3867912" cy="32004"/>
          </a:xfrm>
          <a:prstGeom prst="rect">
            <a:avLst/>
          </a:prstGeom>
          <a:solidFill>
            <a:srgbClr val="3DB89F"/>
          </a:solidFill>
          <a:ln/>
        </p:spPr>
      </p:sp>
      <p:sp>
        <p:nvSpPr>
          <p:cNvPr id="38" name="Text 36"/>
          <p:cNvSpPr/>
          <p:nvPr/>
        </p:nvSpPr>
        <p:spPr>
          <a:xfrm>
            <a:off x="4928616" y="16824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3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28616" y="190195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Sales, GTM Leadership &amp; Founder Autonomy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28616" y="234086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sales and GTM leadership rhythm, role clarity and commercial discipline so the team can operate without the founder in every deal.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3145536"/>
            <a:ext cx="3867912" cy="1481328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3145536"/>
            <a:ext cx="3867912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3" name="Text 41"/>
          <p:cNvSpPr/>
          <p:nvPr/>
        </p:nvSpPr>
        <p:spPr>
          <a:xfrm>
            <a:off x="786384" y="334670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86384" y="35661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Rhythm &amp; Forecast Discipline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86384" y="40050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operating cadence, pipeline governance, dashboards and executive visibility required for predictable growth.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145536"/>
            <a:ext cx="3867912" cy="1481328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145536"/>
            <a:ext cx="3867912" cy="32004"/>
          </a:xfrm>
          <a:prstGeom prst="rect">
            <a:avLst/>
          </a:prstGeom>
          <a:solidFill>
            <a:srgbClr val="3DB89F"/>
          </a:solidFill>
          <a:ln/>
        </p:spPr>
      </p:sp>
      <p:sp>
        <p:nvSpPr>
          <p:cNvPr id="48" name="Text 46"/>
          <p:cNvSpPr/>
          <p:nvPr/>
        </p:nvSpPr>
        <p:spPr>
          <a:xfrm>
            <a:off x="4928616" y="334670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3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28616" y="35661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Partners, Alliances &amp; Strategic Influence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928616" y="40050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leverage through relationships, channels and co-sell motions that multiply reach without multiplying headcount.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Growth </a:t>
            </a:r>
            <a:pPr algn="l" indent="0" marL="0">
              <a:lnSpc>
                <a:spcPct val="102000"/>
              </a:lnSpc>
              <a:buNone/>
            </a:pPr>
            <a:r>
              <a:rPr lang="en-US" sz="3600" i="1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Diagnostic™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977640" cy="384048"/>
          </a:xfrm>
          <a:prstGeom prst="rect">
            <a:avLst/>
          </a:prstGeom>
          <a:solidFill>
            <a:srgbClr val="1C2A38"/>
          </a:solidFill>
          <a:ln w="9525">
            <a:solidFill>
              <a:srgbClr val="C8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190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DFC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FEE  ·  3 WEEKS  ·  BOARD-READY BLUEPRINT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2249424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prescribe before we understand the system. The diagnostic maps the constraints, dependencies and opportunities inside your commercial motion — then translates them into a board-ready Revenue Architecture™ blueprint.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22192" cy="310896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371600"/>
            <a:ext cx="3822192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0" name="Text 8"/>
          <p:cNvSpPr/>
          <p:nvPr/>
        </p:nvSpPr>
        <p:spPr>
          <a:xfrm>
            <a:off x="4974336" y="1536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DASHBOARD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74336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Dependency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36992" y="18745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74336" y="2112264"/>
            <a:ext cx="3383280" cy="91440"/>
          </a:xfrm>
          <a:prstGeom prst="rect">
            <a:avLst/>
          </a:prstGeom>
          <a:solidFill>
            <a:srgbClr val="1C2A38"/>
          </a:solidFill>
          <a:ln/>
        </p:spPr>
      </p:sp>
      <p:sp>
        <p:nvSpPr>
          <p:cNvPr id="14" name="Shape 12"/>
          <p:cNvSpPr/>
          <p:nvPr/>
        </p:nvSpPr>
        <p:spPr>
          <a:xfrm>
            <a:off x="4974336" y="2112264"/>
            <a:ext cx="2774290" cy="9144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4974336" y="2386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36992" y="238658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3DB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74336" y="2624328"/>
            <a:ext cx="3383280" cy="91440"/>
          </a:xfrm>
          <a:prstGeom prst="rect">
            <a:avLst/>
          </a:prstGeom>
          <a:solidFill>
            <a:srgbClr val="1C2A38"/>
          </a:solidFill>
          <a:ln/>
        </p:spPr>
      </p:sp>
      <p:sp>
        <p:nvSpPr>
          <p:cNvPr id="18" name="Shape 16"/>
          <p:cNvSpPr/>
          <p:nvPr/>
        </p:nvSpPr>
        <p:spPr>
          <a:xfrm>
            <a:off x="4974336" y="2624328"/>
            <a:ext cx="1556309" cy="91440"/>
          </a:xfrm>
          <a:prstGeom prst="rect">
            <a:avLst/>
          </a:prstGeom>
          <a:solidFill>
            <a:srgbClr val="3DB89F"/>
          </a:solidFill>
          <a:ln/>
        </p:spPr>
      </p:sp>
      <p:sp>
        <p:nvSpPr>
          <p:cNvPr id="19" name="Text 17"/>
          <p:cNvSpPr/>
          <p:nvPr/>
        </p:nvSpPr>
        <p:spPr>
          <a:xfrm>
            <a:off x="4974336" y="2898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Confidence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36992" y="28986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74336" y="3136392"/>
            <a:ext cx="3383280" cy="91440"/>
          </a:xfrm>
          <a:prstGeom prst="rect">
            <a:avLst/>
          </a:prstGeom>
          <a:solidFill>
            <a:srgbClr val="1C2A38"/>
          </a:solidFill>
          <a:ln/>
        </p:spPr>
      </p:sp>
      <p:sp>
        <p:nvSpPr>
          <p:cNvPr id="22" name="Shape 20"/>
          <p:cNvSpPr/>
          <p:nvPr/>
        </p:nvSpPr>
        <p:spPr>
          <a:xfrm>
            <a:off x="4974336" y="3136392"/>
            <a:ext cx="2029968" cy="9144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3" name="Shape 21"/>
          <p:cNvSpPr/>
          <p:nvPr/>
        </p:nvSpPr>
        <p:spPr>
          <a:xfrm>
            <a:off x="4974336" y="3438144"/>
            <a:ext cx="3383280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35112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DELIVERABLES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74336" y="376732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Dependency Score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 Review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Clarity Assessment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Messaging Audit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Motion Review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Process Review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 Score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729984" y="376732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Confidence Review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Ecosystem Map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Cadence Review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Capability Assessment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Design</a:t>
            </a:r>
            <a:pPr algn="l" marL="139700" indent="-139700">
              <a:lnSpc>
                <a:spcPct val="118000"/>
              </a:lnSpc>
              <a:buSzPct val="100000"/>
              <a:buChar char="•"/>
            </a:pPr>
            <a:r>
              <a:rPr lang="en-US" sz="75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Revenue Blueprint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EXECUTION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deliver strategy decks.
</a:t>
            </a:r>
            <a:pPr algn="l" indent="0" marL="0">
              <a:lnSpc>
                <a:spcPct val="102000"/>
              </a:lnSpc>
              <a:buNone/>
            </a:pPr>
            <a:r>
              <a:rPr lang="en-US" sz="2700" i="1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install operating cadence.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164592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286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execution, not advisory deliverables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798064"/>
            <a:ext cx="164592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6883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operating cadence with your leadership team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164592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090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revenue visibility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602736"/>
            <a:ext cx="164592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493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partner and leadership governance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005072"/>
            <a:ext cx="164592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8953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create founder autonomy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1737360"/>
            <a:ext cx="1000093" cy="72661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521811" y="2463970"/>
            <a:ext cx="382002" cy="117568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5629" y="3639650"/>
            <a:ext cx="1236183" cy="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3627" y="2463970"/>
            <a:ext cx="382002" cy="117568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903627" y="1737360"/>
            <a:ext cx="1000093" cy="72661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331720"/>
            <a:ext cx="914400" cy="914400"/>
          </a:xfrm>
          <a:prstGeom prst="ellipse">
            <a:avLst/>
          </a:prstGeom>
          <a:solidFill>
            <a:srgbClr val="1C2A38"/>
          </a:solidFill>
          <a:ln w="15875">
            <a:solidFill>
              <a:srgbClr val="C8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606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spc="150" kern="0" dirty="0">
                <a:solidFill>
                  <a:srgbClr val="DFC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spc="150" kern="0" dirty="0">
                <a:solidFill>
                  <a:srgbClr val="DFC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48856" y="1682496"/>
            <a:ext cx="109728" cy="109728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417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848949" y="2409106"/>
            <a:ext cx="109728" cy="109728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25" name="Text 23"/>
          <p:cNvSpPr/>
          <p:nvPr/>
        </p:nvSpPr>
        <p:spPr>
          <a:xfrm>
            <a:off x="7218013" y="214393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66947" y="3584786"/>
            <a:ext cx="109728" cy="109728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7" name="Text 25"/>
          <p:cNvSpPr/>
          <p:nvPr/>
        </p:nvSpPr>
        <p:spPr>
          <a:xfrm>
            <a:off x="6836011" y="372194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30765" y="3584786"/>
            <a:ext cx="109728" cy="109728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29" name="Text 27"/>
          <p:cNvSpPr/>
          <p:nvPr/>
        </p:nvSpPr>
        <p:spPr>
          <a:xfrm>
            <a:off x="5599829" y="372194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48763" y="2409106"/>
            <a:ext cx="109728" cy="109728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31" name="Text 29"/>
          <p:cNvSpPr/>
          <p:nvPr/>
        </p:nvSpPr>
        <p:spPr>
          <a:xfrm>
            <a:off x="5217827" y="214393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</a:t>
            </a:r>
            <a:pPr algn="l" indent="0" marL="0">
              <a:lnSpc>
                <a:spcPct val="102000"/>
              </a:lnSpc>
              <a:buNone/>
            </a:pPr>
            <a:r>
              <a:rPr lang="en-US" sz="3200" i="1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promises.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3383280"/>
            <a:ext cx="5303520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926080"/>
            <a:ext cx="5303520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468880"/>
            <a:ext cx="5303520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011680"/>
            <a:ext cx="5303520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00200"/>
            <a:ext cx="5303520" cy="0"/>
          </a:xfrm>
          <a:prstGeom prst="line">
            <a:avLst/>
          </a:prstGeom>
          <a:noFill/>
          <a:ln w="6350">
            <a:solidFill>
              <a:srgbClr val="1720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3840480"/>
            <a:ext cx="5303520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32688" y="3383280"/>
            <a:ext cx="1097280" cy="320040"/>
          </a:xfrm>
          <a:prstGeom prst="line">
            <a:avLst/>
          </a:prstGeom>
          <a:noFill/>
          <a:ln w="28575">
            <a:solidFill>
              <a:srgbClr val="C8A9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29968" y="2880360"/>
            <a:ext cx="1005840" cy="502920"/>
          </a:xfrm>
          <a:prstGeom prst="line">
            <a:avLst/>
          </a:prstGeom>
          <a:noFill/>
          <a:ln w="28575">
            <a:solidFill>
              <a:srgbClr val="C8A9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035808" y="2286000"/>
            <a:ext cx="1097280" cy="594360"/>
          </a:xfrm>
          <a:prstGeom prst="line">
            <a:avLst/>
          </a:prstGeom>
          <a:noFill/>
          <a:ln w="28575">
            <a:solidFill>
              <a:srgbClr val="C8A9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4133088" y="1554480"/>
            <a:ext cx="1280160" cy="731520"/>
          </a:xfrm>
          <a:prstGeom prst="line">
            <a:avLst/>
          </a:prstGeom>
          <a:noFill/>
          <a:ln w="28575">
            <a:solidFill>
              <a:srgbClr val="C8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3657600"/>
            <a:ext cx="91440" cy="91440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16" name="Shape 14"/>
          <p:cNvSpPr/>
          <p:nvPr/>
        </p:nvSpPr>
        <p:spPr>
          <a:xfrm>
            <a:off x="1984248" y="3337560"/>
            <a:ext cx="91440" cy="91440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17" name="Shape 15"/>
          <p:cNvSpPr/>
          <p:nvPr/>
        </p:nvSpPr>
        <p:spPr>
          <a:xfrm>
            <a:off x="2990088" y="2834640"/>
            <a:ext cx="91440" cy="91440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18" name="Shape 16"/>
          <p:cNvSpPr/>
          <p:nvPr/>
        </p:nvSpPr>
        <p:spPr>
          <a:xfrm>
            <a:off x="4087368" y="2240280"/>
            <a:ext cx="91440" cy="91440"/>
          </a:xfrm>
          <a:prstGeom prst="ellipse">
            <a:avLst/>
          </a:prstGeom>
          <a:solidFill>
            <a:srgbClr val="3DB89F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9240" y="1490472"/>
            <a:ext cx="128016" cy="128016"/>
          </a:xfrm>
          <a:prstGeom prst="ellipse">
            <a:avLst/>
          </a:prstGeom>
          <a:solidFill>
            <a:srgbClr val="DFC28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7673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58768" y="1188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DFC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$4M · 24 MONTHS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4069080"/>
            <a:ext cx="2548128" cy="566928"/>
          </a:xfrm>
          <a:prstGeom prst="rect">
            <a:avLst/>
          </a:prstGeom>
          <a:solidFill>
            <a:srgbClr val="141C26"/>
          </a:solidFill>
          <a:ln w="6350">
            <a:solidFill>
              <a:srgbClr val="2A3A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11480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27048" y="4224528"/>
            <a:ext cx="1542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· 24 MONTHS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97936" y="4069080"/>
            <a:ext cx="2548128" cy="566928"/>
          </a:xfrm>
          <a:prstGeom prst="rect">
            <a:avLst/>
          </a:prstGeom>
          <a:solidFill>
            <a:srgbClr val="141C26"/>
          </a:solidFill>
          <a:ln w="6350">
            <a:solidFill>
              <a:srgbClr val="2A3A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4240" y="411480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DB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258056" y="4224528"/>
            <a:ext cx="1542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VELOCITY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28944" y="4069080"/>
            <a:ext cx="2548128" cy="566928"/>
          </a:xfrm>
          <a:prstGeom prst="rect">
            <a:avLst/>
          </a:prstGeom>
          <a:solidFill>
            <a:srgbClr val="141C26"/>
          </a:solidFill>
          <a:ln w="6350">
            <a:solidFill>
              <a:srgbClr val="2A3A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5248" y="411480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89064" y="4224528"/>
            <a:ext cx="1542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LEVERAGE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35040" y="1783080"/>
            <a:ext cx="2542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· modelled composites · client name withheld · reference on request. Replace with client-specific proof.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ENGAGEMENT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path to autonomy.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34440" y="2606040"/>
            <a:ext cx="6675120" cy="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37232" y="2542032"/>
            <a:ext cx="219456" cy="128016"/>
          </a:xfrm>
          <a:prstGeom prst="rightArrow">
            <a:avLst/>
          </a:prstGeom>
          <a:solidFill>
            <a:srgbClr val="C8A96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331720"/>
            <a:ext cx="548640" cy="548640"/>
          </a:xfrm>
          <a:prstGeom prst="ellipse">
            <a:avLst/>
          </a:prstGeom>
          <a:solidFill>
            <a:srgbClr val="1C2A38"/>
          </a:solidFill>
          <a:ln w="19050">
            <a:solidFill>
              <a:srgbClr val="C8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" y="24871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054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3284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system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62272" y="2542032"/>
            <a:ext cx="219456" cy="128016"/>
          </a:xfrm>
          <a:prstGeom prst="rightArrow">
            <a:avLst/>
          </a:prstGeom>
          <a:solidFill>
            <a:srgbClr val="C8A9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185160" y="2331720"/>
            <a:ext cx="548640" cy="548640"/>
          </a:xfrm>
          <a:prstGeom prst="ellipse">
            <a:avLst/>
          </a:prstGeom>
          <a:solidFill>
            <a:srgbClr val="1C2A38"/>
          </a:solidFill>
          <a:ln w="19050">
            <a:solidFill>
              <a:srgbClr val="3DB8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8020" y="24871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DB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36520" y="3054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90800" y="33284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Architecture™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87312" y="2542032"/>
            <a:ext cx="219456" cy="128016"/>
          </a:xfrm>
          <a:prstGeom prst="rightArrow">
            <a:avLst/>
          </a:prstGeom>
          <a:solidFill>
            <a:srgbClr val="C8A96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10200" y="2331720"/>
            <a:ext cx="548640" cy="548640"/>
          </a:xfrm>
          <a:prstGeom prst="ellipse">
            <a:avLst/>
          </a:prstGeom>
          <a:solidFill>
            <a:srgbClr val="1C2A38"/>
          </a:solidFill>
          <a:ln w="19050">
            <a:solidFill>
              <a:srgbClr val="C8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3060" y="24871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61560" y="3054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15840" y="33284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cadence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35240" y="2331720"/>
            <a:ext cx="548640" cy="548640"/>
          </a:xfrm>
          <a:prstGeom prst="ellipse">
            <a:avLst/>
          </a:prstGeom>
          <a:solidFill>
            <a:srgbClr val="1C2A38"/>
          </a:solidFill>
          <a:ln w="19050">
            <a:solidFill>
              <a:srgbClr val="3DB8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8100" y="24871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DB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054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3284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growth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411480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dependency → Founder Ceiling → Revenue Architecture™ → Embedded Execution → Founder Autonomy → Repeatable Enterprise Growth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models.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3849624" cy="82296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8229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" y="1755648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Diagnostic™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502152" y="1773936"/>
            <a:ext cx="749808" cy="219456"/>
          </a:xfrm>
          <a:prstGeom prst="rect">
            <a:avLst/>
          </a:prstGeom>
          <a:solidFill>
            <a:srgbClr val="1C2A38"/>
          </a:solidFill>
          <a:ln w="635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79222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86384" y="2084832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·  Clarity before commitment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86384" y="224028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fee · 3 weeks · board-ready blueprint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27448" y="1627632"/>
            <a:ext cx="3849624" cy="82296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27448" y="1627632"/>
            <a:ext cx="41148" cy="822960"/>
          </a:xfrm>
          <a:prstGeom prst="rect">
            <a:avLst/>
          </a:prstGeom>
          <a:solidFill>
            <a:srgbClr val="3DB89F"/>
          </a:solidFill>
          <a:ln/>
        </p:spPr>
      </p:sp>
      <p:sp>
        <p:nvSpPr>
          <p:cNvPr id="15" name="Text 13"/>
          <p:cNvSpPr/>
          <p:nvPr/>
        </p:nvSpPr>
        <p:spPr>
          <a:xfrm>
            <a:off x="4946904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3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12664" y="1755648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Operator Retainer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662672" y="1773936"/>
            <a:ext cx="749808" cy="219456"/>
          </a:xfrm>
          <a:prstGeom prst="rect">
            <a:avLst/>
          </a:prstGeom>
          <a:solidFill>
            <a:srgbClr val="1C2A38"/>
          </a:solidFill>
          <a:ln w="6350">
            <a:solidFill>
              <a:srgbClr val="3DB8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179222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3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946904" y="2084832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·  Execution &amp; operating cadence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46904" y="224028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retainer · weekly cadence · board reporting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78608"/>
            <a:ext cx="3849624" cy="82296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578608"/>
            <a:ext cx="41148" cy="8229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2734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" y="270662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+ Embedded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3502152" y="2724912"/>
            <a:ext cx="749808" cy="219456"/>
          </a:xfrm>
          <a:prstGeom prst="rect">
            <a:avLst/>
          </a:prstGeom>
          <a:solidFill>
            <a:srgbClr val="1C2A38"/>
          </a:solidFill>
          <a:ln w="6350">
            <a:solidFill>
              <a:srgbClr val="C8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274320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86384" y="3035808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·  The default path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86384" y="3191256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diagnostic, then monthly engagement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27448" y="2578608"/>
            <a:ext cx="3849624" cy="82296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7448" y="2578608"/>
            <a:ext cx="41148" cy="822960"/>
          </a:xfrm>
          <a:prstGeom prst="rect">
            <a:avLst/>
          </a:prstGeom>
          <a:solidFill>
            <a:srgbClr val="3DB89F"/>
          </a:solidFill>
          <a:ln/>
        </p:spPr>
      </p:sp>
      <p:sp>
        <p:nvSpPr>
          <p:cNvPr id="31" name="Text 29"/>
          <p:cNvSpPr/>
          <p:nvPr/>
        </p:nvSpPr>
        <p:spPr>
          <a:xfrm>
            <a:off x="4946904" y="2734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3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12664" y="270662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Fee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662672" y="2724912"/>
            <a:ext cx="749808" cy="219456"/>
          </a:xfrm>
          <a:prstGeom prst="rect">
            <a:avLst/>
          </a:prstGeom>
          <a:solidFill>
            <a:srgbClr val="1C2A38"/>
          </a:solidFill>
          <a:ln w="6350">
            <a:solidFill>
              <a:srgbClr val="3DB8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274320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3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946904" y="3035808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·  Fees aligned to outcomes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46904" y="3191256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retainer + revenue / ARR / pipeline upside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3529584"/>
            <a:ext cx="3849624" cy="82296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3529584"/>
            <a:ext cx="41148" cy="82296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" y="3685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2144" y="365760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/ Strategic Advisory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3502152" y="3675888"/>
            <a:ext cx="749808" cy="219456"/>
          </a:xfrm>
          <a:prstGeom prst="rect">
            <a:avLst/>
          </a:prstGeom>
          <a:solidFill>
            <a:srgbClr val="1C2A38"/>
          </a:solidFill>
          <a:ln w="6350">
            <a:solidFill>
              <a:srgbClr val="C8A9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2152" y="36941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86384" y="3986784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·  Long-horizon partnerships · selective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86384" y="4142232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cash + equity + board involvement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27448" y="3529584"/>
            <a:ext cx="3849624" cy="82296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27448" y="3529584"/>
            <a:ext cx="41148" cy="822960"/>
          </a:xfrm>
          <a:prstGeom prst="rect">
            <a:avLst/>
          </a:prstGeom>
          <a:solidFill>
            <a:srgbClr val="3DB89F"/>
          </a:solidFill>
          <a:ln/>
        </p:spPr>
      </p:sp>
      <p:sp>
        <p:nvSpPr>
          <p:cNvPr id="47" name="Text 45"/>
          <p:cNvSpPr/>
          <p:nvPr/>
        </p:nvSpPr>
        <p:spPr>
          <a:xfrm>
            <a:off x="4946904" y="3685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3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12664" y="365760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7662672" y="3675888"/>
            <a:ext cx="749808" cy="219456"/>
          </a:xfrm>
          <a:prstGeom prst="rect">
            <a:avLst/>
          </a:prstGeom>
          <a:solidFill>
            <a:srgbClr val="1C2A38"/>
          </a:solidFill>
          <a:ln w="6350">
            <a:solidFill>
              <a:srgbClr val="3DB89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62672" y="36941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3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946904" y="3986784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·  A tailored blend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46904" y="4142232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+ retainer + success fee + optional equity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6928" y="4443984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set against the diagnostic findings and revenue stage. Full detail in Crescivo_Commercial_Models.md.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13232"/>
            <a:ext cx="50292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60 / 90 day operating cadence.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81328" y="1920240"/>
            <a:ext cx="6181344" cy="0"/>
          </a:xfrm>
          <a:prstGeom prst="line">
            <a:avLst/>
          </a:prstGeom>
          <a:noFill/>
          <a:ln w="12700">
            <a:solidFill>
              <a:srgbClr val="2A3A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3584" y="1682496"/>
            <a:ext cx="475488" cy="475488"/>
          </a:xfrm>
          <a:prstGeom prst="ellipse">
            <a:avLst/>
          </a:prstGeom>
          <a:solidFill>
            <a:srgbClr val="1C2A38"/>
          </a:solidFill>
          <a:ln w="1905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18013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8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17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10512" y="2157984"/>
            <a:ext cx="0" cy="310896"/>
          </a:xfrm>
          <a:prstGeom prst="line">
            <a:avLst/>
          </a:prstGeom>
          <a:noFill/>
          <a:ln w="9525">
            <a:solidFill>
              <a:srgbClr val="17202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66928" y="2468880"/>
            <a:ext cx="2487168" cy="178308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468880"/>
            <a:ext cx="2487168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700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6384" y="290779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" y="3291840"/>
            <a:ext cx="20482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constraints, dependencies and opportunities. Deliver the board-ready blueprint.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34256" y="1682496"/>
            <a:ext cx="475488" cy="475488"/>
          </a:xfrm>
          <a:prstGeom prst="ellipse">
            <a:avLst/>
          </a:prstGeom>
          <a:solidFill>
            <a:srgbClr val="1C2A38"/>
          </a:solidFill>
          <a:ln w="19050">
            <a:solidFill>
              <a:srgbClr val="3DB8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8013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DB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1417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0" y="2157984"/>
            <a:ext cx="0" cy="310896"/>
          </a:xfrm>
          <a:prstGeom prst="line">
            <a:avLst/>
          </a:prstGeom>
          <a:noFill/>
          <a:ln w="9525">
            <a:solidFill>
              <a:srgbClr val="17202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328416" y="2468880"/>
            <a:ext cx="2487168" cy="178308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8416" y="2468880"/>
            <a:ext cx="2487168" cy="32004"/>
          </a:xfrm>
          <a:prstGeom prst="rect">
            <a:avLst/>
          </a:prstGeom>
          <a:solidFill>
            <a:srgbClr val="3DB89F"/>
          </a:solidFill>
          <a:ln/>
        </p:spPr>
      </p:sp>
      <p:sp>
        <p:nvSpPr>
          <p:cNvPr id="21" name="Text 19"/>
          <p:cNvSpPr/>
          <p:nvPr/>
        </p:nvSpPr>
        <p:spPr>
          <a:xfrm>
            <a:off x="3547872" y="26700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3D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47872" y="290779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47872" y="3291840"/>
            <a:ext cx="20482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operating cadence, pipeline governance and leadership rhythm.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24928" y="1682496"/>
            <a:ext cx="475488" cy="475488"/>
          </a:xfrm>
          <a:prstGeom prst="ellipse">
            <a:avLst/>
          </a:prstGeom>
          <a:solidFill>
            <a:srgbClr val="1C2A38"/>
          </a:solidFill>
          <a:ln w="19050">
            <a:solidFill>
              <a:srgbClr val="C8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8013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8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05472" y="1417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33488" y="2157984"/>
            <a:ext cx="0" cy="310896"/>
          </a:xfrm>
          <a:prstGeom prst="line">
            <a:avLst/>
          </a:prstGeom>
          <a:noFill/>
          <a:ln w="9525">
            <a:solidFill>
              <a:srgbClr val="17202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089904" y="2468880"/>
            <a:ext cx="2487168" cy="1783080"/>
          </a:xfrm>
          <a:prstGeom prst="rect">
            <a:avLst/>
          </a:prstGeom>
          <a:solidFill>
            <a:srgbClr val="141C26"/>
          </a:solidFill>
          <a:ln w="9525">
            <a:solidFill>
              <a:srgbClr val="2A3A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9904" y="2468880"/>
            <a:ext cx="2487168" cy="3200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6700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0" y="290779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09360" y="3291840"/>
            <a:ext cx="20482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revenue visibility. First measurable shifts. Path to founder autonomy.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4736592"/>
            <a:ext cx="8010144" cy="0"/>
          </a:xfrm>
          <a:prstGeom prst="line">
            <a:avLst/>
          </a:prstGeom>
          <a:noFill/>
          <a:ln w="9525">
            <a:solidFill>
              <a:srgbClr val="2A3A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  ·  REVENUE ARCHITECTURE™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48272" y="4809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mre\Downloads\crescivo-web\exports\_hero-ba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8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035040" cy="5143500"/>
          </a:xfrm>
          <a:prstGeom prst="rect">
            <a:avLst/>
          </a:prstGeom>
          <a:solidFill>
            <a:srgbClr val="0A0F18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1371600"/>
            <a:ext cx="640080" cy="0"/>
          </a:xfrm>
          <a:prstGeom prst="line">
            <a:avLst/>
          </a:prstGeom>
          <a:noFill/>
          <a:ln w="19050">
            <a:solidFill>
              <a:srgbClr val="C8A9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517904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8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</a:t>
            </a:r>
            <a:pPr algn="l" indent="0" marL="0">
              <a:lnSpc>
                <a:spcPct val="100000"/>
              </a:lnSpc>
              <a:buNone/>
            </a:pPr>
            <a:r>
              <a:rPr lang="en-US" sz="4400" i="1" dirty="0">
                <a:solidFill>
                  <a:srgbClr val="DFC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Diagnostic™.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66928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30-minute executive discussion. No obligation.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18488" y="3346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hello@crescivo.partners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18488" y="3730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crescivo.partners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6928" y="4151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18488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Sydney, AU · operating across APAC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6928" y="4809744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CONNECT.   INFLUENCE.   SCALE.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22192" y="480974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Restifo, Guy Pozniak &amp; Jason Serda · Crescivo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Crescivo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Crescivo — Scale Beyond the Founder</dc:title>
  <dc:subject>PptxGenJS Presentation</dc:subject>
  <dc:creator>Crescivo</dc:creator>
  <cp:lastModifiedBy>Crescivo</cp:lastModifiedBy>
  <cp:revision>1</cp:revision>
  <dcterms:created xsi:type="dcterms:W3CDTF">2026-06-21T11:41:23Z</dcterms:created>
  <dcterms:modified xsi:type="dcterms:W3CDTF">2026-06-21T11:41:23Z</dcterms:modified>
</cp:coreProperties>
</file>